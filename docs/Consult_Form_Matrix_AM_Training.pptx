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148840"/>
            <a:ext cx="9144000" cy="54864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423160"/>
            <a:ext cx="80467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Ma trận Consult Form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971800"/>
            <a:ext cx="80467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0">
                <a:solidFill>
                  <a:srgbClr val="FFFFFF"/>
                </a:solidFill>
              </a:defRPr>
            </a:pPr>
            <a:r>
              <a:t>Training AM — 12 dịch vụ + lead-gen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520440"/>
            <a:ext cx="80467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0">
                <a:solidFill>
                  <a:srgbClr val="64748B"/>
                </a:solidFill>
              </a:defRPr>
            </a:pPr>
            <a:r>
              <a:t>Form · Prefill · Tài liệu L2 · Gate R5 · Checklist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4069080"/>
            <a:ext cx="80467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0">
                <a:solidFill>
                  <a:srgbClr val="64748B"/>
                </a:solidFill>
              </a:defRPr>
            </a:pPr>
            <a:r>
              <a:t>2026-08-05 · rs.pttads.vn · Funnel stepper Phase 2.5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46304"/>
            <a:ext cx="70408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Mục lục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1051560"/>
            <a:ext cx="832104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1E293B"/>
                </a:solidFill>
              </a:defRPr>
            </a:pPr>
            <a:r>
              <a:t>I. Kiến trúc 3 lớp Consult form</a:t>
            </a:r>
          </a:p>
          <a:p>
            <a:pPr>
              <a:spcAft>
                <a:spcPts val="400"/>
              </a:spcAft>
              <a:defRPr sz="1400">
                <a:solidFill>
                  <a:srgbClr val="1E293B"/>
                </a:solidFill>
              </a:defRPr>
            </a:pPr>
            <a:r>
              <a:t>II. Quy trình 5 bước AM</a:t>
            </a:r>
          </a:p>
          <a:p>
            <a:pPr>
              <a:spcAft>
                <a:spcPts val="400"/>
              </a:spcAft>
              <a:defRPr sz="1400">
                <a:solidFill>
                  <a:srgbClr val="1E293B"/>
                </a:solidFill>
              </a:defRPr>
            </a:pPr>
            <a:r>
              <a:t>III. Ma trận 13 dịch vụ (form + L2)</a:t>
            </a:r>
          </a:p>
          <a:p>
            <a:pPr>
              <a:spcAft>
                <a:spcPts val="400"/>
              </a:spcAft>
              <a:defRPr sz="1400">
                <a:solidFill>
                  <a:srgbClr val="1E293B"/>
                </a:solidFill>
              </a:defRPr>
            </a:pPr>
            <a:r>
              <a:t>IV. lead-gen pilot (đề xuất)</a:t>
            </a:r>
          </a:p>
          <a:p>
            <a:pPr>
              <a:spcAft>
                <a:spcPts val="400"/>
              </a:spcAft>
              <a:defRPr sz="1400">
                <a:solidFill>
                  <a:srgbClr val="1E293B"/>
                </a:solidFill>
              </a:defRPr>
            </a:pPr>
            <a:r>
              <a:t>V. Prefill Intake → Consult</a:t>
            </a:r>
          </a:p>
          <a:p>
            <a:pPr>
              <a:spcAft>
                <a:spcPts val="400"/>
              </a:spcAft>
              <a:defRPr sz="1400">
                <a:solidFill>
                  <a:srgbClr val="1E293B"/>
                </a:solidFill>
              </a:defRPr>
            </a:pPr>
            <a:r>
              <a:t>VI. Gate R5 — KH MKT sơ bộ</a:t>
            </a:r>
          </a:p>
          <a:p>
            <a:pPr>
              <a:spcAft>
                <a:spcPts val="400"/>
              </a:spcAft>
              <a:defRPr sz="1400">
                <a:solidFill>
                  <a:srgbClr val="1E293B"/>
                </a:solidFill>
              </a:defRPr>
            </a:pPr>
            <a:r>
              <a:t>VII. Checklist theo nhóm · SLA</a:t>
            </a:r>
          </a:p>
          <a:p>
            <a:pPr>
              <a:spcAft>
                <a:spcPts val="400"/>
              </a:spcAft>
              <a:defRPr sz="1400">
                <a:solidFill>
                  <a:srgbClr val="1E293B"/>
                </a:solidFill>
              </a:defRPr>
            </a:pPr>
            <a:r>
              <a:t>VIII. Tài liệu repo &amp; tạo lại file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46304"/>
            <a:ext cx="70408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Kiến trúc 3 lớp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1051560"/>
            <a:ext cx="832104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</a:defRPr>
            </a:pPr>
            <a:r>
              <a:t>Lớp A — Core: ghi nhận audit/discovery (mọi DV)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</a:defRPr>
            </a:pPr>
            <a:r>
              <a:t>Lớp B — Theo dịch vụ: 2–4 field task Consult (sheet Form fields)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</a:defRPr>
            </a:pPr>
            <a:r>
              <a:t>Lớp C — Gate R5: KH Marketing sơ bộ trước Chuyển → Báo giá (G4)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</a:defRPr>
            </a:pP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</a:defRPr>
            </a:pPr>
            <a:r>
              <a:t>AI: consult_analysis — context BANT, decision, Intake, red flags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</a:defRPr>
            </a:pPr>
            <a:r>
              <a:t>Exit: Task Consult ✓ + R5 đủ → CTA Chuyển → Báo giá trên stepper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</a:defRPr>
            </a:pP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</a:defRPr>
            </a:pPr>
            <a:r>
              <a:t>Lead #900000002 (pilot): service_slug = lead-gen — cần template riêng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46304"/>
            <a:ext cx="70408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Quy trình Consult — 5 bước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1051560"/>
            <a:ext cx="832104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</a:defRPr>
            </a:pPr>
            <a:r>
              <a:t>1. Đọc Consult Brief + Intake completed — ngay khi vào Consult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</a:defRPr>
            </a:pPr>
            <a:r>
              <a:t>2. Thu tài liệu L2 theo dịch vụ — 1–3 ngày trước meeting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</a:defRPr>
            </a:pPr>
            <a:r>
              <a:t>3. Buổi audit/discovery — điền form task Consult trên Lead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</a:defRPr>
            </a:pPr>
            <a:r>
              <a:t>4. AI Hỗ trợ (consult_analysis) — review trong buổi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</a:defRPr>
            </a:pPr>
            <a:r>
              <a:t>5. Tick ✓ Consult + KH MKT sơ bộ → Chuyển → Báo giá (≤48h)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</a:defRPr>
            </a:pP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</a:defRPr>
            </a:pPr>
            <a:r>
              <a:t>Handoff Intake: stepper CTA Chuyển → Tư vấn (Phase 2.5)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</a:defRPr>
            </a:pPr>
            <a:r>
              <a:t>Không nhập lại niche/budget — dùng Prefill hoặc đọc Brief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46304"/>
            <a:ext cx="70408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Ma trận Consult — phần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21792"/>
            <a:ext cx="70408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C7D2FE"/>
                </a:solidFill>
              </a:defRPr>
            </a:pPr>
            <a:r>
              <a:t>Chi tiết đầy đủ: Excel sheet 2-Ma_tran_13_DV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182880" y="1005840"/>
          <a:ext cx="8778237" cy="5394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8011"/>
                <a:gridCol w="1194318"/>
                <a:gridCol w="1552613"/>
                <a:gridCol w="2627500"/>
                <a:gridCol w="2985795"/>
              </a:tblGrid>
              <a:tr h="674370">
                <a:tc>
                  <a:txBody>
                    <a:bodyPr/>
                    <a:lstStyle/>
                    <a:p>
                      <a:pPr>
                        <a:defRPr b="1" sz="900">
                          <a:solidFill>
                            <a:srgbClr val="FFFFFF"/>
                          </a:solidFill>
                        </a:defRPr>
                      </a:pPr>
                      <a:r>
                        <a:t>#</a:t>
                      </a:r>
                    </a:p>
                  </a:txBody>
                  <a:tcPr>
                    <a:solidFill>
                      <a:srgbClr val="6366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900">
                          <a:solidFill>
                            <a:srgbClr val="FFFFFF"/>
                          </a:solidFill>
                        </a:defRPr>
                      </a:pPr>
                      <a:r>
                        <a:t>Nhóm</a:t>
                      </a:r>
                    </a:p>
                  </a:txBody>
                  <a:tcPr>
                    <a:solidFill>
                      <a:srgbClr val="6366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900">
                          <a:solidFill>
                            <a:srgbClr val="FFFFFF"/>
                          </a:solidFill>
                        </a:defRPr>
                      </a:pPr>
                      <a:r>
                        <a:t>Dịch vụ</a:t>
                      </a:r>
                    </a:p>
                  </a:txBody>
                  <a:tcPr>
                    <a:solidFill>
                      <a:srgbClr val="6366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900">
                          <a:solidFill>
                            <a:srgbClr val="FFFFFF"/>
                          </a:solidFill>
                        </a:defRPr>
                      </a:pPr>
                      <a:r>
                        <a:t>Task Consult</a:t>
                      </a:r>
                    </a:p>
                  </a:txBody>
                  <a:tcPr>
                    <a:solidFill>
                      <a:srgbClr val="6366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900">
                          <a:solidFill>
                            <a:srgbClr val="FFFFFF"/>
                          </a:solidFill>
                        </a:defRPr>
                      </a:pPr>
                      <a:r>
                        <a:t>Form (keys)</a:t>
                      </a:r>
                    </a:p>
                  </a:txBody>
                  <a:tcPr>
                    <a:solidFill>
                      <a:srgbClr val="6366F1"/>
                    </a:solidFill>
                  </a:tcPr>
                </a:tc>
              </a:tr>
              <a:tr h="674370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E293B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E293B"/>
                          </a:solidFill>
                        </a:defRPr>
                      </a:pPr>
                      <a:r>
                        <a:t>Tìm kiếm tự nhiên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E293B"/>
                          </a:solidFill>
                        </a:defRPr>
                      </a:pPr>
                      <a:r>
                        <a:t>Dịch vụ AEO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E293B"/>
                          </a:solidFill>
                        </a:defRPr>
                      </a:pPr>
                      <a:r>
                        <a:t>Audit AI search presence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E293B"/>
                          </a:solidFill>
                        </a:defRPr>
                      </a:pPr>
                      <a:r>
                        <a:t>current_status, content_gaps</a:t>
                      </a:r>
                    </a:p>
                  </a:txBody>
                  <a:tcPr/>
                </a:tc>
              </a:tr>
              <a:tr h="674370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E293B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E293B"/>
                          </a:solidFill>
                        </a:defRPr>
                      </a:pPr>
                      <a:r>
                        <a:t>Thiết kế &amp; web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E293B"/>
                          </a:solidFill>
                        </a:defRPr>
                      </a:pPr>
                      <a:r>
                        <a:t>Quản trị Website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E293B"/>
                          </a:solidFill>
                        </a:defRPr>
                      </a:pPr>
                      <a:r>
                        <a:t>Đánh giá website &amp; xác định scope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E293B"/>
                          </a:solidFill>
                        </a:defRPr>
                      </a:pPr>
                      <a:r>
                        <a:t>current_status, pain_points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674370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E293B"/>
                          </a:solidFill>
                        </a:defRPr>
                      </a:pPr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E293B"/>
                          </a:solidFill>
                        </a:defRPr>
                      </a:pPr>
                      <a:r>
                        <a:t>Tìm kiếm tự nhiên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E293B"/>
                          </a:solidFill>
                        </a:defRPr>
                      </a:pPr>
                      <a:r>
                        <a:t>SEO Audit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E293B"/>
                          </a:solidFill>
                        </a:defRPr>
                      </a:pPr>
                      <a:r>
                        <a:t>Scoping &amp; phân tích sơ bộ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E293B"/>
                          </a:solidFill>
                        </a:defRPr>
                      </a:pPr>
                      <a:r>
                        <a:t>audit_scope, current_status</a:t>
                      </a:r>
                    </a:p>
                  </a:txBody>
                  <a:tcPr/>
                </a:tc>
              </a:tr>
              <a:tr h="674370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E293B"/>
                          </a:solidFill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E293B"/>
                          </a:solidFill>
                        </a:defRPr>
                      </a:pPr>
                      <a:r>
                        <a:t>Tìm kiếm tự nhiên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E293B"/>
                          </a:solidFill>
                        </a:defRPr>
                      </a:pPr>
                      <a:r>
                        <a:t>SEO Local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E293B"/>
                          </a:solidFill>
                        </a:defRPr>
                      </a:pPr>
                      <a:r>
                        <a:t>GBP audit &amp; local keyword research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E293B"/>
                          </a:solidFill>
                        </a:defRPr>
                      </a:pPr>
                      <a:r>
                        <a:t>current_status, local_keywords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674370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E293B"/>
                          </a:solidFill>
                        </a:defRPr>
                      </a:pPr>
                      <a: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E293B"/>
                          </a:solidFill>
                        </a:defRPr>
                      </a:pPr>
                      <a:r>
                        <a:t>Tìm kiếm tự nhiên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E293B"/>
                          </a:solidFill>
                        </a:defRPr>
                      </a:pPr>
                      <a:r>
                        <a:t>SEO Tổng thể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E293B"/>
                          </a:solidFill>
                        </a:defRPr>
                      </a:pPr>
                      <a:r>
                        <a:t>Audit website &amp; phân tích từ khóa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E293B"/>
                          </a:solidFill>
                        </a:defRPr>
                      </a:pPr>
                      <a:r>
                        <a:t>current_status, top_competitors, target_keywords</a:t>
                      </a:r>
                    </a:p>
                  </a:txBody>
                  <a:tcPr/>
                </a:tc>
              </a:tr>
              <a:tr h="674370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E293B"/>
                          </a:solidFill>
                        </a:defRPr>
                      </a:pPr>
                      <a:r>
                        <a:t>6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E293B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E293B"/>
                          </a:solidFill>
                        </a:defRPr>
                      </a:pPr>
                      <a:r>
                        <a:t>Lead generation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E293B"/>
                          </a:solidFill>
                        </a:defRPr>
                      </a:pPr>
                      <a:r>
                        <a:t>Discovery funnel &amp; kênh lead generation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E293B"/>
                          </a:solidFill>
                        </a:defRPr>
                      </a:pPr>
                      <a:r>
                        <a:t>current_status · target_audience · conversion_metrics · scope_recommendation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674370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E293B"/>
                          </a:solidFill>
                        </a:defRPr>
                      </a:pPr>
                      <a: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E293B"/>
                          </a:solidFill>
                        </a:defRPr>
                      </a:pPr>
                      <a:r>
                        <a:t>Quảng cáo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E293B"/>
                          </a:solidFill>
                        </a:defRPr>
                      </a:pPr>
                      <a:r>
                        <a:t>Quảng cáo Facebook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E293B"/>
                          </a:solidFill>
                        </a:defRPr>
                      </a:pPr>
                      <a:r>
                        <a:t>Phân tích &amp; lên strategy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E293B"/>
                          </a:solidFill>
                        </a:defRPr>
                      </a:pPr>
                      <a:r>
                        <a:t>target_audience, current_status, product_usp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46304"/>
            <a:ext cx="70408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Ma trận Consult — phần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21792"/>
            <a:ext cx="70408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C7D2FE"/>
                </a:solidFill>
              </a:defRPr>
            </a:pPr>
            <a:r>
              <a:t>Chi tiết đầy đủ: Excel sheet 2-Ma_tran_13_DV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182880" y="1005840"/>
          <a:ext cx="8778237" cy="5394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8011"/>
                <a:gridCol w="1194318"/>
                <a:gridCol w="1552613"/>
                <a:gridCol w="2627500"/>
                <a:gridCol w="2985795"/>
              </a:tblGrid>
              <a:tr h="674370">
                <a:tc>
                  <a:txBody>
                    <a:bodyPr/>
                    <a:lstStyle/>
                    <a:p>
                      <a:pPr>
                        <a:defRPr b="1" sz="900">
                          <a:solidFill>
                            <a:srgbClr val="FFFFFF"/>
                          </a:solidFill>
                        </a:defRPr>
                      </a:pPr>
                      <a:r>
                        <a:t>#</a:t>
                      </a:r>
                    </a:p>
                  </a:txBody>
                  <a:tcPr>
                    <a:solidFill>
                      <a:srgbClr val="6366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900">
                          <a:solidFill>
                            <a:srgbClr val="FFFFFF"/>
                          </a:solidFill>
                        </a:defRPr>
                      </a:pPr>
                      <a:r>
                        <a:t>Nhóm</a:t>
                      </a:r>
                    </a:p>
                  </a:txBody>
                  <a:tcPr>
                    <a:solidFill>
                      <a:srgbClr val="6366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900">
                          <a:solidFill>
                            <a:srgbClr val="FFFFFF"/>
                          </a:solidFill>
                        </a:defRPr>
                      </a:pPr>
                      <a:r>
                        <a:t>Dịch vụ</a:t>
                      </a:r>
                    </a:p>
                  </a:txBody>
                  <a:tcPr>
                    <a:solidFill>
                      <a:srgbClr val="6366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900">
                          <a:solidFill>
                            <a:srgbClr val="FFFFFF"/>
                          </a:solidFill>
                        </a:defRPr>
                      </a:pPr>
                      <a:r>
                        <a:t>Task Consult</a:t>
                      </a:r>
                    </a:p>
                  </a:txBody>
                  <a:tcPr>
                    <a:solidFill>
                      <a:srgbClr val="6366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900">
                          <a:solidFill>
                            <a:srgbClr val="FFFFFF"/>
                          </a:solidFill>
                        </a:defRPr>
                      </a:pPr>
                      <a:r>
                        <a:t>Form (keys)</a:t>
                      </a:r>
                    </a:p>
                  </a:txBody>
                  <a:tcPr>
                    <a:solidFill>
                      <a:srgbClr val="6366F1"/>
                    </a:solidFill>
                  </a:tcPr>
                </a:tc>
              </a:tr>
              <a:tr h="674370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E293B"/>
                          </a:solidFill>
                        </a:defRPr>
                      </a:pPr>
                      <a:r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E293B"/>
                          </a:solidFill>
                        </a:defRPr>
                      </a:pPr>
                      <a:r>
                        <a:t>Quảng cáo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E293B"/>
                          </a:solidFill>
                        </a:defRPr>
                      </a:pPr>
                      <a:r>
                        <a:t>Quảng cáo Google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E293B"/>
                          </a:solidFill>
                        </a:defRPr>
                      </a:pPr>
                      <a:r>
                        <a:t>Keyword research &amp; account strategy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E293B"/>
                          </a:solidFill>
                        </a:defRPr>
                      </a:pPr>
                      <a:r>
                        <a:t>target_keywords, current_status</a:t>
                      </a:r>
                    </a:p>
                  </a:txBody>
                  <a:tcPr/>
                </a:tc>
              </a:tr>
              <a:tr h="674370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E293B"/>
                          </a:solidFill>
                        </a:defRPr>
                      </a:pPr>
                      <a:r>
                        <a:t>9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E293B"/>
                          </a:solidFill>
                        </a:defRPr>
                      </a:pPr>
                      <a:r>
                        <a:t>Thiết kế &amp; web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E293B"/>
                          </a:solidFill>
                        </a:defRPr>
                      </a:pPr>
                      <a:r>
                        <a:t>Landing Page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E293B"/>
                          </a:solidFill>
                        </a:defRPr>
                      </a:pPr>
                      <a:r>
                        <a:t>Brief landing page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E293B"/>
                          </a:solidFill>
                        </a:defRPr>
                      </a:pPr>
                      <a:r>
                        <a:t>target_audience, usp, cta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674370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E293B"/>
                          </a:solidFill>
                        </a:defRPr>
                      </a:pPr>
                      <a:r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E293B"/>
                          </a:solidFill>
                        </a:defRPr>
                      </a:pPr>
                      <a:r>
                        <a:t>Thiết kế &amp; web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E293B"/>
                          </a:solidFill>
                        </a:defRPr>
                      </a:pPr>
                      <a:r>
                        <a:t>Thiết kế Website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E293B"/>
                          </a:solidFill>
                        </a:defRPr>
                      </a:pPr>
                      <a:r>
                        <a:t>Thu thập yêu cầu chi tiết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E293B"/>
                          </a:solidFill>
                        </a:defRPr>
                      </a:pPr>
                      <a:r>
                        <a:t>current_status, design_refs, pages_count</a:t>
                      </a:r>
                    </a:p>
                  </a:txBody>
                  <a:tcPr/>
                </a:tc>
              </a:tr>
              <a:tr h="674370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E293B"/>
                          </a:solidFill>
                        </a:defRPr>
                      </a:pPr>
                      <a:r>
                        <a:t>11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E293B"/>
                          </a:solidFill>
                        </a:defRPr>
                      </a:pPr>
                      <a:r>
                        <a:t>Thiết kế &amp; web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E293B"/>
                          </a:solidFill>
                        </a:defRPr>
                      </a:pPr>
                      <a:r>
                        <a:t>Website Trọn gói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E293B"/>
                          </a:solidFill>
                        </a:defRPr>
                      </a:pPr>
                      <a:r>
                        <a:t>Tư vấn kỹ thuật &amp; thu thập yêu cầu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E293B"/>
                          </a:solidFill>
                        </a:defRPr>
                      </a:pPr>
                      <a:r>
                        <a:t>current_status, integrations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674370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E293B"/>
                          </a:solidFill>
                        </a:defRPr>
                      </a:pPr>
                      <a: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E293B"/>
                          </a:solidFill>
                        </a:defRPr>
                      </a:pPr>
                      <a:r>
                        <a:t>Quảng cáo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E293B"/>
                          </a:solidFill>
                        </a:defRPr>
                      </a:pPr>
                      <a:r>
                        <a:t>Thuê Tài khoản Ads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E293B"/>
                          </a:solidFill>
                        </a:defRPr>
                      </a:pPr>
                      <a:r>
                        <a:t>Đánh giá rủi ro &amp; điều khoản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E293B"/>
                          </a:solidFill>
                        </a:defRPr>
                      </a:pPr>
                      <a:r>
                        <a:t>current_status, risk_assessment</a:t>
                      </a:r>
                    </a:p>
                  </a:txBody>
                  <a:tcPr/>
                </a:tc>
              </a:tr>
              <a:tr h="674370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E293B"/>
                          </a:solidFill>
                        </a:defRPr>
                      </a:pPr>
                      <a:r>
                        <a:t>13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E293B"/>
                          </a:solidFill>
                        </a:defRPr>
                      </a:pPr>
                      <a:r>
                        <a:t>Nội dung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E293B"/>
                          </a:solidFill>
                        </a:defRPr>
                      </a:pPr>
                      <a:r>
                        <a:t>Tiếp thị Nội dung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E293B"/>
                          </a:solidFill>
                        </a:defRPr>
                      </a:pPr>
                      <a:r>
                        <a:t>Phân tích content &amp; lên strategy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E293B"/>
                          </a:solidFill>
                        </a:defRPr>
                      </a:pPr>
                      <a:r>
                        <a:t>current_status, top_competitors, target_audience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674370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E293B"/>
                          </a:solidFill>
                        </a:defRPr>
                      </a:pPr>
                      <a:r>
                        <a:t>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E293B"/>
                          </a:solidFill>
                        </a:defRPr>
                      </a:pPr>
                      <a:r>
                        <a:t>Pilot / inbound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E293B"/>
                          </a:solidFill>
                        </a:defRPr>
                      </a:pPr>
                      <a:r>
                        <a:t>Lead generation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E293B"/>
                          </a:solidFill>
                        </a:defRPr>
                      </a:pPr>
                      <a:r>
                        <a:t>Discovery funnel &amp; kênh lead generation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E293B"/>
                          </a:solidFill>
                        </a:defRPr>
                      </a:pPr>
                      <a:r>
                        <a:t>current_status · target_audience · conversion_metrics · scope_recommendation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46304"/>
            <a:ext cx="70408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lead-gen — Template đề xuất (pilot)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21792"/>
            <a:ext cx="70408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C7D2FE"/>
                </a:solidFill>
              </a:defRPr>
            </a:pPr>
            <a:r>
              <a:t>Slug mặc định Meta inbound · chưa ship CRM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1051560"/>
            <a:ext cx="832104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Task: Discovery funnel &amp; kênh lead generation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Form fields: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  current_status — Hiện trạng funnel &amp; kênh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  target_audience — ICP &amp; đối tượng mục tiêu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  conversion_metrics — KPI hiện tại &amp; mục tiêu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  scope_recommendation — Phạm vi PTT đề xuất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L2: Meta lead form export, Ads account read, LP URL, CRM screenshot, spend 3 tháng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Prefill: need→current_status · niche→target_audience · budget/daily_budget/monthly_budget→conversion_metrics · campaign_goal→scope_recommendation · discovery_responses→current_status (Phase 2)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46304"/>
            <a:ext cx="70408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Prefill Intake → Consult (mẫu)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21792"/>
            <a:ext cx="70408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C7D2FE"/>
                </a:solidFill>
              </a:defRPr>
            </a:pPr>
            <a:r>
              <a:t>Auto khi Chuyển → Tư vấn · get_crm_field_map(slug)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182880" y="1005840"/>
          <a:ext cx="8778239" cy="5394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41252"/>
                <a:gridCol w="6536987"/>
              </a:tblGrid>
              <a:tr h="1078992">
                <a:tc>
                  <a:txBody>
                    <a:bodyPr/>
                    <a:lstStyle/>
                    <a:p>
                      <a:pPr>
                        <a:defRPr b="1" sz="900">
                          <a:solidFill>
                            <a:srgbClr val="FFFFFF"/>
                          </a:solidFill>
                        </a:defRPr>
                      </a:pPr>
                      <a:r>
                        <a:t>Dịch vụ</a:t>
                      </a:r>
                    </a:p>
                  </a:txBody>
                  <a:tcPr>
                    <a:solidFill>
                      <a:srgbClr val="6366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900">
                          <a:solidFill>
                            <a:srgbClr val="FFFFFF"/>
                          </a:solidFill>
                        </a:defRPr>
                      </a:pPr>
                      <a:r>
                        <a:t>Mapping (Lead/Intake → Consult field)</a:t>
                      </a:r>
                    </a:p>
                  </a:txBody>
                  <a:tcPr>
                    <a:solidFill>
                      <a:srgbClr val="6366F1"/>
                    </a:solidFill>
                  </a:tcPr>
                </a:tc>
              </a:tr>
              <a:tr h="1078992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E293B"/>
                          </a:solidFill>
                        </a:defRPr>
                      </a:pPr>
                      <a:r>
                        <a:t>SEO Tổng thể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E293B"/>
                          </a:solidFill>
                        </a:defRPr>
                      </a:pPr>
                      <a:r>
                        <a:t>campaign_goal→product_usp · domain→current_status · goal→current_status · need→current_sta</a:t>
                      </a:r>
                    </a:p>
                  </a:txBody>
                  <a:tcPr/>
                </a:tc>
              </a:tr>
              <a:tr h="1078992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E293B"/>
                          </a:solidFill>
                        </a:defRPr>
                      </a:pPr>
                      <a:r>
                        <a:t>Quảng cáo Facebook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E293B"/>
                          </a:solidFill>
                        </a:defRPr>
                      </a:pPr>
                      <a:r>
                        <a:t>campaign_goal→product_usp · daily_budget→current_status · domain→current_status · goal→cur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1078992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E293B"/>
                          </a:solidFill>
                        </a:defRPr>
                      </a:pPr>
                      <a:r>
                        <a:t>Quảng cáo Google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E293B"/>
                          </a:solidFill>
                        </a:defRPr>
                      </a:pPr>
                      <a:r>
                        <a:t>campaign_goal→product_usp · campaign_type→current_status · domain→current_status · goal→cu</a:t>
                      </a:r>
                    </a:p>
                  </a:txBody>
                  <a:tcPr/>
                </a:tc>
              </a:tr>
              <a:tr h="1078992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E293B"/>
                          </a:solidFill>
                        </a:defRPr>
                      </a:pPr>
                      <a:r>
                        <a:t>Lead generation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E293B"/>
                          </a:solidFill>
                        </a:defRPr>
                      </a:pPr>
                      <a:r>
                        <a:t>need→current_status · niche→target_audience · budget/daily_budget/monthly_budget→conversio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46304"/>
            <a:ext cx="70408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Gate G4 — KH Marketing sơ bộ (R5)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21792"/>
            <a:ext cx="70408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C7D2FE"/>
                </a:solidFill>
              </a:defRPr>
            </a:pPr>
            <a:r>
              <a:t>Lead panel → Lưu KH MKT sơ bộ → CTA Chuyển → Báo giá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182880" y="1005840"/>
          <a:ext cx="8778239" cy="5394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91839"/>
                <a:gridCol w="5486400"/>
              </a:tblGrid>
              <a:tr h="899160">
                <a:tc>
                  <a:txBody>
                    <a:bodyPr/>
                    <a:lstStyle/>
                    <a:p>
                      <a:pPr>
                        <a:defRPr b="1" sz="900">
                          <a:solidFill>
                            <a:srgbClr val="FFFFFF"/>
                          </a:solidFill>
                        </a:defRPr>
                      </a:pPr>
                      <a:r>
                        <a:t>Field</a:t>
                      </a:r>
                    </a:p>
                  </a:txBody>
                  <a:tcPr>
                    <a:solidFill>
                      <a:srgbClr val="6366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900">
                          <a:solidFill>
                            <a:srgbClr val="FFFFFF"/>
                          </a:solidFill>
                        </a:defRPr>
                      </a:pPr>
                      <a:r>
                        <a:t>Rule</a:t>
                      </a:r>
                    </a:p>
                  </a:txBody>
                  <a:tcPr>
                    <a:solidFill>
                      <a:srgbClr val="6366F1"/>
                    </a:solidFill>
                  </a:tcPr>
                </a:tc>
              </a:tr>
              <a:tr h="899160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E293B"/>
                          </a:solidFill>
                        </a:defRPr>
                      </a:pPr>
                      <a:r>
                        <a:t>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E293B"/>
                          </a:solidFill>
                        </a:defRPr>
                      </a:pPr>
                      <a:r>
                        <a:t>Bắt buộc</a:t>
                      </a:r>
                    </a:p>
                  </a:txBody>
                  <a:tcPr/>
                </a:tc>
              </a:tr>
              <a:tr h="899160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E293B"/>
                          </a:solidFill>
                        </a:defRPr>
                      </a:pPr>
                      <a:r>
                        <a:t>north_star hoặc objectives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E293B"/>
                          </a:solidFill>
                        </a:defRPr>
                      </a:pPr>
                      <a:r>
                        <a:t>Ít nhất một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899160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E293B"/>
                          </a:solidFill>
                        </a:defRPr>
                      </a:pPr>
                      <a:r>
                        <a:t>market_message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E293B"/>
                          </a:solidFill>
                        </a:defRPr>
                      </a:pPr>
                      <a:r>
                        <a:t>Bắt buộc (strategy_framework)</a:t>
                      </a:r>
                    </a:p>
                  </a:txBody>
                  <a:tcPr/>
                </a:tc>
              </a:tr>
              <a:tr h="899160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E293B"/>
                          </a:solidFill>
                        </a:defRPr>
                      </a:pPr>
                      <a:r>
                        <a:t>media_reach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E293B"/>
                          </a:solidFill>
                        </a:defRPr>
                      </a:pPr>
                      <a:r>
                        <a:t>Bắt buộc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899160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E293B"/>
                          </a:solidFill>
                        </a:defRPr>
                      </a:pPr>
                      <a:r>
                        <a:t>conversion_strategy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E293B"/>
                          </a:solidFill>
                        </a:defRPr>
                      </a:pPr>
                      <a:r>
                        <a:t>Bắt buộc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46304"/>
            <a:ext cx="70408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Checklist ✓ Consult → Proposal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82880" y="1005840"/>
          <a:ext cx="8778240" cy="5394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50720"/>
                <a:gridCol w="6827520"/>
              </a:tblGrid>
              <a:tr h="899160">
                <a:tc>
                  <a:txBody>
                    <a:bodyPr/>
                    <a:lstStyle/>
                    <a:p>
                      <a:pPr>
                        <a:defRPr b="1" sz="900">
                          <a:solidFill>
                            <a:srgbClr val="FFFFFF"/>
                          </a:solidFill>
                        </a:defRPr>
                      </a:pPr>
                      <a:r>
                        <a:t>Nhóm</a:t>
                      </a:r>
                    </a:p>
                  </a:txBody>
                  <a:tcPr>
                    <a:solidFill>
                      <a:srgbClr val="6366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900">
                          <a:solidFill>
                            <a:srgbClr val="FFFFFF"/>
                          </a:solidFill>
                        </a:defRPr>
                      </a:pPr>
                      <a:r>
                        <a:t>AM xác nhận</a:t>
                      </a:r>
                    </a:p>
                  </a:txBody>
                  <a:tcPr>
                    <a:solidFill>
                      <a:srgbClr val="6366F1"/>
                    </a:solidFill>
                  </a:tcPr>
                </a:tc>
              </a:tr>
              <a:tr h="899160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E293B"/>
                          </a:solidFill>
                        </a:defRPr>
                      </a:pPr>
                      <a:r>
                        <a:t>Tìm kiếm tự nhiên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E293B"/>
                          </a:solidFill>
                        </a:defRPr>
                      </a:pPr>
                      <a:r>
                        <a:t>Scope audit rõ · baseline đo được · đối thủ/KW đã liệt kê</a:t>
                      </a:r>
                    </a:p>
                  </a:txBody>
                  <a:tcPr/>
                </a:tc>
              </a:tr>
              <a:tr h="899160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E293B"/>
                          </a:solidFill>
                        </a:defRPr>
                      </a:pPr>
                      <a:r>
                        <a:t>Quảng cáo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E293B"/>
                          </a:solidFill>
                        </a:defRPr>
                      </a:pPr>
                      <a:r>
                        <a:t>Objective + targeting draft · KPI target (CPL/ROAS) · kế hoạch account access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899160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E293B"/>
                          </a:solidFill>
                        </a:defRPr>
                      </a:pPr>
                      <a:r>
                        <a:t>Thiết kế &amp; web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E293B"/>
                          </a:solidFill>
                        </a:defRPr>
                      </a:pPr>
                      <a:r>
                        <a:t>Deliverables (design/code/pages) · số revision · timeline</a:t>
                      </a:r>
                    </a:p>
                  </a:txBody>
                  <a:tcPr/>
                </a:tc>
              </a:tr>
              <a:tr h="899160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E293B"/>
                          </a:solidFill>
                        </a:defRPr>
                      </a:pPr>
                      <a:r>
                        <a:t>Nội dung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E293B"/>
                          </a:solidFill>
                        </a:defRPr>
                      </a:pPr>
                      <a:r>
                        <a:t>Số bài/tháng · kênh · tone of voice · calendar tháng 1 sơ bộ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899160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E293B"/>
                          </a:solidFill>
                        </a:defRPr>
                      </a:pPr>
                      <a:r>
                        <a:t>Pilot / inbound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E293B"/>
                          </a:solidFill>
                        </a:defRPr>
                      </a:pPr>
                      <a:r>
                        <a:t>Funnel end-to-end · KPI cam kết draft · scope PTT vs KH tự làm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46304"/>
            <a:ext cx="70408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Tài liệu &amp; tạo lại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1051560"/>
            <a:ext cx="832104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</a:defRPr>
            </a:pPr>
            <a:r>
              <a:t>Excel: docs/exports/Consult_Form_Matrix_AM_Training.xlsx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</a:defRPr>
            </a:pPr>
            <a:r>
              <a:t>PPT: docs/Consult_Form_Matrix_AM_Training.pptx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</a:defRPr>
            </a:pPr>
            <a:r>
              <a:t>SOP: docs/runbooks/consult-stage-am-sop.md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</a:defRPr>
            </a:pPr>
            <a:r>
              <a:t>Runbook task: docs/runbooks/consult-stage-service-tasks.md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</a:defRPr>
            </a:pPr>
            <a:r>
              <a:t>Training 45p: docs/runbooks/consult-stage-training-guide.md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</a:defRPr>
            </a:pP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</a:defRPr>
            </a:pPr>
            <a:r>
              <a:t>Tạo lại: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</a:defRPr>
            </a:pPr>
            <a:r>
              <a:t>  python3 scripts/generate_consult_form_matrix_training.py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</a:defRPr>
            </a:pP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</a:defRPr>
            </a:pPr>
            <a:r>
              <a:t>Pilot AM: in Excel sheet 6-Checklist · tick khi training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743200"/>
            <a:ext cx="73152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Cảm ơn · PTT Advertising Solutions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